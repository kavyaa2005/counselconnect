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61" r:id="rId8"/>
    <p:sldId id="262" r:id="rId9"/>
    <p:sldId id="260" r:id="rId10"/>
  </p:sldIdLst>
  <p:sldSz cx="12192000" cy="6858000"/>
  <p:notesSz cx="6858000" cy="9144000"/>
  <p:embeddedFontLst>
    <p:embeddedFont>
      <p:font typeface="Calibri" panose="020F0502020204030204"/>
      <p:regular r:id="rId14"/>
      <p:bold r:id="rId15"/>
      <p:italic r:id="rId16"/>
      <p:boldItalic r:id="rId17"/>
    </p:embeddedFont>
    <p:embeddedFont>
      <p:font typeface="Proxima Nova" panose="02000506030000020004"/>
      <p:regular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85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1" d="100"/>
          <a:sy n="81" d="100"/>
        </p:scale>
        <p:origin x="725" y="58"/>
      </p:cViewPr>
      <p:guideLst>
        <p:guide orient="horz" pos="2185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font" Target="fonts/font5.fntdata"/><Relationship Id="rId17" Type="http://schemas.openxmlformats.org/officeDocument/2006/relationships/font" Target="fonts/font4.fntdata"/><Relationship Id="rId16" Type="http://schemas.openxmlformats.org/officeDocument/2006/relationships/font" Target="fonts/font3.fntdata"/><Relationship Id="rId15" Type="http://schemas.openxmlformats.org/officeDocument/2006/relationships/font" Target="fonts/font2.fntdata"/><Relationship Id="rId14" Type="http://schemas.openxmlformats.org/officeDocument/2006/relationships/font" Target="fonts/font1.fntdata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6" name="Google Shape;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39" name="Google Shape;39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"/>
          <p:cNvSpPr txBox="1"/>
          <p:nvPr/>
        </p:nvSpPr>
        <p:spPr>
          <a:xfrm>
            <a:off x="3102949" y="3526681"/>
            <a:ext cx="6678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 xml:space="preserve">Team Member 1: </a:t>
            </a:r>
            <a:r>
              <a:rPr lang="en-US" sz="1800" b="0" i="0" u="none" strike="noStrike" cap="none" dirty="0">
                <a:solidFill>
                  <a:srgbClr val="FF0000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FULL NAME (ENROLLMENT NUMBER) (Class)</a:t>
            </a:r>
            <a:endParaRPr dirty="0">
              <a:solidFill>
                <a:srgbClr val="FF000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 xml:space="preserve">Team Member 2: </a:t>
            </a:r>
            <a:r>
              <a:rPr lang="en-US" sz="1800" b="0" i="0" u="none" strike="noStrike" cap="none" dirty="0">
                <a:solidFill>
                  <a:srgbClr val="FF0000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FULL NAME (ENROLLMENT NUMBER) (Class)</a:t>
            </a:r>
            <a:endParaRPr dirty="0">
              <a:solidFill>
                <a:srgbClr val="FF000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 xml:space="preserve">Team Member 3: </a:t>
            </a:r>
            <a:r>
              <a:rPr lang="en-US" sz="1800" b="0" i="0" u="none" strike="noStrike" cap="none" dirty="0">
                <a:solidFill>
                  <a:srgbClr val="FF0000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FULL NAME (ENROLLMENT NUMBER) (Class)</a:t>
            </a:r>
            <a:endParaRPr dirty="0">
              <a:solidFill>
                <a:srgbClr val="FF000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89" name="Google Shape;89;p2"/>
          <p:cNvSpPr txBox="1"/>
          <p:nvPr/>
        </p:nvSpPr>
        <p:spPr>
          <a:xfrm>
            <a:off x="2844024" y="2738833"/>
            <a:ext cx="7195800" cy="7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800"/>
              <a:buFont typeface="Proxima Nova" panose="02000506030000020004"/>
              <a:buNone/>
            </a:pPr>
            <a:r>
              <a:rPr lang="en-US" sz="2800" b="0" i="0" u="none" strike="noStrike" cap="none" dirty="0">
                <a:solidFill>
                  <a:srgbClr val="FF0000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PROJECT/INTERNSHIP</a:t>
            </a:r>
            <a:r>
              <a:rPr lang="en-US" sz="2800" b="0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 xml:space="preserve"> TITLE</a:t>
            </a:r>
            <a:endParaRPr dirty="0"/>
          </a:p>
          <a:p>
            <a:pPr marL="12700" marR="0" lvl="0" indent="0" algn="ctr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4A2B9"/>
              </a:buClr>
              <a:buSzPts val="2200"/>
              <a:buFont typeface="Proxima Nova" panose="02000506030000020004"/>
              <a:buNone/>
            </a:pPr>
            <a:r>
              <a:rPr lang="en-US" sz="2200" b="0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 xml:space="preserve">Team ID: </a:t>
            </a:r>
            <a:r>
              <a:rPr lang="en-US" sz="2200" b="0" i="0" u="none" strike="noStrike" cap="none" dirty="0" err="1">
                <a:solidFill>
                  <a:srgbClr val="FF0000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xxxxx</a:t>
            </a:r>
            <a:endParaRPr sz="2200" b="0" i="0" u="none" strike="noStrike" cap="none" dirty="0">
              <a:solidFill>
                <a:srgbClr val="FF0000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5459831" y="4489367"/>
            <a:ext cx="1272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9595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Guided By</a:t>
            </a:r>
            <a:endParaRPr lang="en-US" sz="1800" b="0" i="0" u="none" strike="noStrike" cap="none">
              <a:solidFill>
                <a:srgbClr val="595959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3193926" y="4897337"/>
            <a:ext cx="5742683" cy="735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Internal Guide</a:t>
            </a:r>
            <a:endParaRPr lang="en-US" sz="1800" b="0" i="0" u="none" strike="noStrike" cap="none" dirty="0">
              <a:solidFill>
                <a:schemeClr val="dk1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US" sz="1800" dirty="0">
                <a:solidFill>
                  <a:srgbClr val="FF0000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Internal Guide Name &amp; Designation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 xml:space="preserve"> </a:t>
            </a:r>
            <a:endParaRPr lang="en-US" dirty="0"/>
          </a:p>
        </p:txBody>
      </p:sp>
      <p:sp>
        <p:nvSpPr>
          <p:cNvPr id="92" name="Google Shape;92;p2"/>
          <p:cNvSpPr txBox="1"/>
          <p:nvPr/>
        </p:nvSpPr>
        <p:spPr>
          <a:xfrm>
            <a:off x="3193926" y="5441197"/>
            <a:ext cx="302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2"/>
          <p:cNvSpPr txBox="1"/>
          <p:nvPr/>
        </p:nvSpPr>
        <p:spPr>
          <a:xfrm>
            <a:off x="2550795" y="1056005"/>
            <a:ext cx="7095490" cy="202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200"/>
              <a:buFont typeface="Proxima Nova" panose="02000506030000020004"/>
              <a:buNone/>
            </a:pPr>
            <a:r>
              <a:rPr lang="en-US" sz="3200" b="1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M</a:t>
            </a:r>
            <a:r>
              <a:rPr lang="en-IN" altLang="en-US" sz="3200" b="1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ajor</a:t>
            </a:r>
            <a:r>
              <a:rPr lang="en-US" sz="3200" b="1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 xml:space="preserve"> Project</a:t>
            </a:r>
            <a:r>
              <a:rPr lang="en-IN" altLang="en-US" sz="3200" b="1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-I</a:t>
            </a:r>
            <a:r>
              <a:rPr lang="en-US" sz="3200" b="1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 xml:space="preserve"> (01CE</a:t>
            </a:r>
            <a:r>
              <a:rPr lang="en-US" sz="3200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0</a:t>
            </a:r>
            <a:r>
              <a:rPr lang="en-IN" altLang="en-US" sz="3200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716</a:t>
            </a:r>
            <a:r>
              <a:rPr lang="en-US" sz="3200" b="1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)</a:t>
            </a:r>
            <a:endParaRPr lang="en-US" sz="3200" b="1" i="0" u="none" strike="noStrike" cap="none" dirty="0">
              <a:solidFill>
                <a:srgbClr val="04A2B9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200"/>
              <a:buFont typeface="Proxima Nova" panose="02000506030000020004"/>
              <a:buNone/>
            </a:pPr>
            <a:r>
              <a:rPr lang="en-IN" altLang="en-US" sz="3200" b="1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Semester 7</a:t>
            </a:r>
            <a:endParaRPr sz="3200" b="1" dirty="0"/>
          </a:p>
          <a:p>
            <a:pPr marL="12700" marR="0" lvl="0" indent="0" algn="ctr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4A2B9"/>
              </a:buClr>
              <a:buSzPts val="2200"/>
              <a:buFont typeface="Proxima Nova" panose="02000506030000020004"/>
              <a:buNone/>
            </a:pPr>
            <a:r>
              <a:rPr lang="en-US" sz="2200" b="0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 xml:space="preserve">Review 1 </a:t>
            </a:r>
            <a:br>
              <a:rPr lang="en-US" sz="2200" b="0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</a:br>
            <a:r>
              <a:rPr lang="en-US" sz="2200" b="0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(</a:t>
            </a:r>
            <a:r>
              <a:rPr lang="en-US" sz="2200" b="0" i="0" u="none" strike="noStrike" cap="none" dirty="0">
                <a:solidFill>
                  <a:srgbClr val="FF0000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DD/MM/YYYY</a:t>
            </a:r>
            <a:r>
              <a:rPr lang="en-US" sz="2200" b="0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)</a:t>
            </a:r>
            <a:br>
              <a:rPr lang="en-US" sz="2200" b="0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</a:br>
            <a:endParaRPr sz="2200" b="0" i="0" u="none" strike="noStrike" cap="none" dirty="0">
              <a:solidFill>
                <a:schemeClr val="dk1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2293191" y="5643518"/>
            <a:ext cx="8297381" cy="936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0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Department of Computer Engineering,</a:t>
            </a:r>
            <a:br>
              <a:rPr lang="en-US" sz="2400" b="0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</a:br>
            <a:r>
              <a:rPr lang="en-US" sz="2400" b="0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Faculty of Engineering &amp; Technology</a:t>
            </a:r>
            <a:r>
              <a:rPr lang="en-US" sz="3600" b="0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 xml:space="preserve"> </a:t>
            </a:r>
            <a:endParaRPr sz="3600" b="0" i="0" u="none" strike="noStrike" cap="none" dirty="0">
              <a:solidFill>
                <a:schemeClr val="dk1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>
            <a:spLocks noGrp="1"/>
          </p:cNvSpPr>
          <p:nvPr>
            <p:ph type="title"/>
          </p:nvPr>
        </p:nvSpPr>
        <p:spPr>
          <a:xfrm>
            <a:off x="534259" y="309562"/>
            <a:ext cx="2320909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Outline</a:t>
            </a:r>
            <a:endParaRPr sz="2400" b="1" dirty="0"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646113" y="966117"/>
            <a:ext cx="8591100" cy="5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/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Introduction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Problem Statement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Objectives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System Architecture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Technology Stack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Modules — User Panel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Modules — Doctor Panel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AI-Enabled Features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Security &amp; Access Control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Current Progress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Challenges Faced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Future Scope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>
            <a:spLocks noGrp="1"/>
          </p:cNvSpPr>
          <p:nvPr>
            <p:ph type="title"/>
          </p:nvPr>
        </p:nvSpPr>
        <p:spPr>
          <a:xfrm>
            <a:off x="534259" y="309562"/>
            <a:ext cx="90000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800"/>
              <a:buFont typeface="Proxima Nova" panose="02000506030000020004"/>
              <a:buNone/>
            </a:pPr>
            <a:r>
              <a:rPr lang="en-US" sz="2800" b="1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Introduction</a:t>
            </a:r>
            <a:endParaRPr sz="2400" b="1"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646113" y="1050000"/>
            <a:ext cx="10900000" cy="5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/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CounselConnect is a full-stack web platform for online mental health counseling.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Connects users seeking support with verified professional counselors.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Two dedicated panels: User (patient) panel and Doctor (counselor) panel.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Covers mood tracking, journaling, appointment booking, chat and video sessions.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AI-assisted counselor matching and personalized wellness insights.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>
            <a:spLocks noGrp="1"/>
          </p:cNvSpPr>
          <p:nvPr>
            <p:ph type="title"/>
          </p:nvPr>
        </p:nvSpPr>
        <p:spPr>
          <a:xfrm>
            <a:off x="534259" y="309562"/>
            <a:ext cx="2320909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References</a:t>
            </a:r>
            <a:endParaRPr sz="2400" b="1" dirty="0"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646113" y="1124744"/>
            <a:ext cx="10900000" cy="5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/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1800"/>
              <a:buFont typeface="Arial" panose="020B0604020202020204"/>
              <a:buChar char="•"/>
            </a:pPr>
            <a:r>
              <a:rPr lang="en-US" sz="18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[1] React — A JavaScript library for building user interfaces, Meta Open Source. [Online]. Available: https://react.dev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1800"/>
              <a:buFont typeface="Arial" panose="020B0604020202020204"/>
              <a:buChar char="•"/>
            </a:pPr>
            <a:r>
              <a:rPr lang="en-US" sz="18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[2] Express.js — Fast, unopinionated, minimalist web framework for Node.js. [Online]. Available: https://expressjs.com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1800"/>
              <a:buFont typeface="Arial" panose="020B0604020202020204"/>
              <a:buChar char="•"/>
            </a:pPr>
            <a:r>
              <a:rPr lang="en-US" sz="18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[3] M. Jones, J. Bradley and N. Sakimura, "JSON Web Token (JWT)," IETF RFC 7519, May 2015.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1800"/>
              <a:buFont typeface="Arial" panose="020B0604020202020204"/>
              <a:buChar char="•"/>
            </a:pPr>
            <a:r>
              <a:rPr lang="en-US" sz="18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[4] N. Provos and D. Mazieres, "A future-adaptable password scheme (bcrypt)," in Proc. USENIX Annu. Tech. Conf., 1999.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1800"/>
              <a:buFont typeface="Arial" panose="020B0604020202020204"/>
              <a:buChar char="•"/>
            </a:pPr>
            <a:r>
              <a:rPr lang="en-US" sz="18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[5] Tailwind CSS — Rapidly build modern websites. [Online]. Available: https://tailwindcss.com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1800"/>
              <a:buFont typeface="Arial" panose="020B0604020202020204"/>
              <a:buChar char="•"/>
            </a:pPr>
            <a:r>
              <a:rPr lang="en-US" sz="18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[6] World Health Organization, "Mental health of adolescents," WHO Fact Sheet, 2024. [Online]. Available: https://www.who.int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1800"/>
              <a:buFont typeface="Arial" panose="020B0604020202020204"/>
              <a:buChar char="•"/>
            </a:pPr>
            <a:r>
              <a:rPr lang="en-US" sz="18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[7] Recharts — A composable charting library built on React components. [Online]. Available: https://recharts.org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/>
        </p:nvSpPr>
        <p:spPr>
          <a:xfrm>
            <a:off x="4595812" y="2967350"/>
            <a:ext cx="3000375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</a:pPr>
            <a:r>
              <a:rPr lang="en-IN" sz="4800" b="1" dirty="0">
                <a:solidFill>
                  <a:schemeClr val="tx1"/>
                </a:solidFill>
              </a:rPr>
              <a:t>Q&amp;A</a:t>
            </a:r>
            <a:endParaRPr sz="48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>
            <a:spLocks noGrp="1"/>
          </p:cNvSpPr>
          <p:nvPr>
            <p:ph type="title"/>
          </p:nvPr>
        </p:nvSpPr>
        <p:spPr>
          <a:xfrm>
            <a:off x="534259" y="309562"/>
            <a:ext cx="90000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800"/>
              <a:buFont typeface="Proxima Nova" panose="02000506030000020004"/>
              <a:buNone/>
            </a:pPr>
            <a:r>
              <a:rPr lang="en-US" sz="2800" b="1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Problem Statement</a:t>
            </a:r>
            <a:endParaRPr sz="2400" b="1"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646113" y="1050000"/>
            <a:ext cx="10900000" cy="5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/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Rising stress and anxiety, yet hesitation to seek help due to social stigma.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Limited access to affordable and timely professional counseling.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No unified digital record of a person’s mood, sessions and progress.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Counselors lack tools to monitor patient wellbeing between sessions.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Need: one platform connecting both sides with continuous tracking.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>
            <a:spLocks noGrp="1"/>
          </p:cNvSpPr>
          <p:nvPr>
            <p:ph type="title"/>
          </p:nvPr>
        </p:nvSpPr>
        <p:spPr>
          <a:xfrm>
            <a:off x="534259" y="309562"/>
            <a:ext cx="90000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800"/>
              <a:buFont typeface="Proxima Nova" panose="02000506030000020004"/>
              <a:buNone/>
            </a:pPr>
            <a:r>
              <a:rPr lang="en-US" sz="2800" b="1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Objectives</a:t>
            </a:r>
            <a:endParaRPr sz="2400" b="1"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646113" y="1050000"/>
            <a:ext cx="10900000" cy="5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/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Enable seamless appointment booking and communication with counselors.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Daily mood logging (one entry per day) with visual trend analysis.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Real-time chat between patient and doctor.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AI-based counselor matching from user preferences.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Single role-based login routing users and doctors to their own panels.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Give doctors live dashboards built from real patient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>
            <a:spLocks noGrp="1"/>
          </p:cNvSpPr>
          <p:nvPr>
            <p:ph type="title"/>
          </p:nvPr>
        </p:nvSpPr>
        <p:spPr>
          <a:xfrm>
            <a:off x="534259" y="309562"/>
            <a:ext cx="90000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800"/>
              <a:buFont typeface="Proxima Nova" panose="02000506030000020004"/>
              <a:buNone/>
            </a:pPr>
            <a:r>
              <a:rPr lang="en-US" sz="2800" b="1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System Architecture</a:t>
            </a:r>
            <a:endParaRPr sz="2400" b="1"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646113" y="1050000"/>
            <a:ext cx="10900000" cy="5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/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Three-tier architecture: React SPA → Express REST API → JSON data store.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Frontend: single React app serving both User and Doctor panels.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Backend layered as routes → controllers → services → file store utilities.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JWT authentication; token carries the role claim (user / doctor).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45+ REST endpoints exposed under /api.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>
            <a:spLocks noGrp="1"/>
          </p:cNvSpPr>
          <p:nvPr>
            <p:ph type="title"/>
          </p:nvPr>
        </p:nvSpPr>
        <p:spPr>
          <a:xfrm>
            <a:off x="534259" y="309562"/>
            <a:ext cx="90000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800"/>
              <a:buFont typeface="Proxima Nova" panose="02000506030000020004"/>
              <a:buNone/>
            </a:pPr>
            <a:r>
              <a:rPr lang="en-US" sz="2800" b="1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Technology Stack</a:t>
            </a:r>
            <a:endParaRPr sz="2400" b="1"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646113" y="1050000"/>
            <a:ext cx="10900000" cy="5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/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Frontend: React 18, TypeScript, Vite, Tailwind CSS, Recharts, Motion.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Backend: Node.js, Express.js, express-validator, Helmet, CORS.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Authentication: JSON Web Tokens (JWT) with bcrypt password hashing.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Data layer: JSON stores — users, doctors, moods, appointments, messages.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Tooling: pnpm / npm, Git, ESBuild (Vite).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>
            <a:spLocks noGrp="1"/>
          </p:cNvSpPr>
          <p:nvPr>
            <p:ph type="title"/>
          </p:nvPr>
        </p:nvSpPr>
        <p:spPr>
          <a:xfrm>
            <a:off x="534259" y="309562"/>
            <a:ext cx="90000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800"/>
              <a:buFont typeface="Proxima Nova" panose="02000506030000020004"/>
              <a:buNone/>
            </a:pPr>
            <a:r>
              <a:rPr lang="en-US" sz="2800" b="1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Modules — User Panel</a:t>
            </a:r>
            <a:endParaRPr sz="2400" b="1"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646113" y="1050000"/>
            <a:ext cx="10900000" cy="5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/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Wellness Dashboard: mood streak, weekly average and AI insight cards.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Mood Tracker: daily locked log with weekly trend graph and journal.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Find Counselor and AI Match (multi-select questionnaire).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Appointments: calendar booking with live and expired slot handling.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Messages: real-time chat with doctors; Journey timeline; AI Summary report.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>
            <a:spLocks noGrp="1"/>
          </p:cNvSpPr>
          <p:nvPr>
            <p:ph type="title"/>
          </p:nvPr>
        </p:nvSpPr>
        <p:spPr>
          <a:xfrm>
            <a:off x="534259" y="309562"/>
            <a:ext cx="90000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800"/>
              <a:buFont typeface="Proxima Nova" panose="02000506030000020004"/>
              <a:buNone/>
            </a:pPr>
            <a:r>
              <a:rPr lang="en-US" sz="2800" b="1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Modules — Doctor Panel</a:t>
            </a:r>
            <a:endParaRPr sz="2400" b="1"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646113" y="1050000"/>
            <a:ext cx="10900000" cy="5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/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Dashboard: live statistics, today’s sessions and activity feed.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Patient management: mood history, risk level and session records.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Appointments: confirm, complete or cancel patient bookings.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Chat inbox, counseling notes and weekly availability scheduler.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Analytics, reports, patient feedback and document management.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>
            <a:spLocks noGrp="1"/>
          </p:cNvSpPr>
          <p:nvPr>
            <p:ph type="title"/>
          </p:nvPr>
        </p:nvSpPr>
        <p:spPr>
          <a:xfrm>
            <a:off x="534259" y="309562"/>
            <a:ext cx="90000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800"/>
              <a:buFont typeface="Proxima Nova" panose="02000506030000020004"/>
              <a:buNone/>
            </a:pPr>
            <a:r>
              <a:rPr lang="en-US" sz="2800" b="1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AI-Enabled Features</a:t>
            </a:r>
            <a:endParaRPr sz="2400" b="1"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646113" y="1050000"/>
            <a:ext cx="10900000" cy="5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/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AI counselor matching: scores every doctor against questionnaire answers.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Mood insights: personalized guidance generated from logged data.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AI Journey Summary: growth score, wellness dimensions and badges.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Doctor-side AI assistant: patient-specific insights and alerts.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Risk indicators derived from each patient’s mood averages.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>
            <a:spLocks noGrp="1"/>
          </p:cNvSpPr>
          <p:nvPr>
            <p:ph type="title"/>
          </p:nvPr>
        </p:nvSpPr>
        <p:spPr>
          <a:xfrm>
            <a:off x="534259" y="309562"/>
            <a:ext cx="90000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800"/>
              <a:buFont typeface="Proxima Nova" panose="02000506030000020004"/>
              <a:buNone/>
            </a:pPr>
            <a:r>
              <a:rPr lang="en-US" sz="2800" b="1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Security &amp; Access Control</a:t>
            </a:r>
            <a:endParaRPr sz="2400" b="1"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646113" y="1050000"/>
            <a:ext cx="10900000" cy="5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/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One login for both roles; JWT token carries the role claim.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Role-guard middleware: users are blocked from doctor APIs (403).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bcrypt password hashing (12 rounds) and Helmet HTTP hardening.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Data isolation: a doctor sees only their own patients.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Login history recorded for every account.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>
            <a:spLocks noGrp="1"/>
          </p:cNvSpPr>
          <p:nvPr>
            <p:ph type="title"/>
          </p:nvPr>
        </p:nvSpPr>
        <p:spPr>
          <a:xfrm>
            <a:off x="534259" y="309562"/>
            <a:ext cx="90000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800"/>
              <a:buFont typeface="Proxima Nova" panose="02000506030000020004"/>
              <a:buNone/>
            </a:pPr>
            <a:r>
              <a:rPr lang="en-US" sz="2800" b="1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Current Progress — Review 1</a:t>
            </a:r>
            <a:endParaRPr sz="2400" b="1"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646113" y="1050000"/>
            <a:ext cx="10900000" cy="5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/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User and Doctor panels fully implemented and connected.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45+ REST endpoints implemented and tested end-to-end.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Real-time chat and booking → doctor workflows verified.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All screens run on live data — no static or mock content.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Verified: role guards, mood day-alignment and slot locking.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>
            <a:spLocks noGrp="1"/>
          </p:cNvSpPr>
          <p:nvPr>
            <p:ph type="title"/>
          </p:nvPr>
        </p:nvSpPr>
        <p:spPr>
          <a:xfrm>
            <a:off x="534259" y="309562"/>
            <a:ext cx="90000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800"/>
              <a:buFont typeface="Proxima Nova" panose="02000506030000020004"/>
              <a:buNone/>
            </a:pPr>
            <a:r>
              <a:rPr lang="en-US" sz="2800" b="1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Challenges Faced</a:t>
            </a:r>
            <a:endParaRPr sz="2400" b="1"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646113" y="1050000"/>
            <a:ext cx="10900000" cy="5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/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Keeping both panels consistent with a single source of truth.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Timezone handling: mood entries mapping to the correct weekday.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Designing role-based auth without separate login pages.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Simulating real-time chat over REST using efficient polling.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Migrating every static UI element to dynamic backend data.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>
            <a:spLocks noGrp="1"/>
          </p:cNvSpPr>
          <p:nvPr>
            <p:ph type="title"/>
          </p:nvPr>
        </p:nvSpPr>
        <p:spPr>
          <a:xfrm>
            <a:off x="534259" y="309562"/>
            <a:ext cx="90000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800"/>
              <a:buFont typeface="Proxima Nova" panose="02000506030000020004"/>
              <a:buNone/>
            </a:pPr>
            <a:r>
              <a:rPr lang="en-US" sz="2800" b="1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Future Scope</a:t>
            </a:r>
            <a:endParaRPr sz="2400" b="1"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646113" y="1050000"/>
            <a:ext cx="10900000" cy="5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/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WebRTC-based live video counseling sessions.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Payment gateway integration for session fees (₹).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Migration from JSON stores to MongoDB / PostgreSQL.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Push and e-mail notifications; React Native mobile app.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rgbClr val="666666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LLM-powered counseling assistant with sentiment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565</Words>
  <Application>WPS Presentation</Application>
  <PresentationFormat>Widescreen</PresentationFormat>
  <Paragraphs>49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SimSun</vt:lpstr>
      <vt:lpstr>Wingdings</vt:lpstr>
      <vt:lpstr>Arial</vt:lpstr>
      <vt:lpstr>Calibri</vt:lpstr>
      <vt:lpstr>Proxima Nova</vt:lpstr>
      <vt:lpstr>Microsoft YaHei</vt:lpstr>
      <vt:lpstr>Arial Unicode MS</vt:lpstr>
      <vt:lpstr>Office Theme</vt:lpstr>
      <vt:lpstr>PowerPoint 演示文稿</vt:lpstr>
      <vt:lpstr>PowerPoint 演示文稿</vt:lpstr>
      <vt:lpstr>Outline</vt:lpstr>
      <vt:lpstr>Topic 1</vt:lpstr>
      <vt:lpstr>References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RAJIL</cp:lastModifiedBy>
  <cp:revision>18</cp:revision>
  <dcterms:created xsi:type="dcterms:W3CDTF">2023-12-05T07:58:00Z</dcterms:created>
  <dcterms:modified xsi:type="dcterms:W3CDTF">2026-06-04T07:41:52Z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2024-01-10T05:57:01Z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bdeac77a-6f2d-4eed-8d0b-c87a56de673f</vt:lpwstr>
  </property>
  <property fmtid="{D5CDD505-2E9C-101B-9397-08002B2CF9AE}" pid="7" name="MSIP_Label_defa4170-0d19-0005-0004-bc88714345d2_ActionId">
    <vt:lpwstr>2a20089b-7995-43de-aaf1-a4eb65220026</vt:lpwstr>
  </property>
  <property fmtid="{D5CDD505-2E9C-101B-9397-08002B2CF9AE}" pid="8" name="MSIP_Label_defa4170-0d19-0005-0004-bc88714345d2_ContentBits">
    <vt:lpwstr>0</vt:lpwstr>
  </property>
  <property fmtid="{D5CDD505-2E9C-101B-9397-08002B2CF9AE}" pid="9" name="ICV">
    <vt:lpwstr>64191B4E558B4A0A9654A2ABC4C501E4_12</vt:lpwstr>
  </property>
  <property fmtid="{D5CDD505-2E9C-101B-9397-08002B2CF9AE}" pid="10" name="KSOProductBuildVer">
    <vt:lpwstr>1033-12.1.0.26372</vt:lpwstr>
  </property>
</Properties>
</file>